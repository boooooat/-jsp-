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62" r:id="rId7"/>
    <p:sldId id="257" r:id="rId8"/>
    <p:sldId id="258" r:id="rId9"/>
    <p:sldId id="259" r:id="rId10"/>
    <p:sldId id="260" r:id="rId11"/>
    <p:sldId id="261" r:id="rId12"/>
    <p:sldId id="276" r:id="rId13"/>
    <p:sldId id="263" r:id="rId14"/>
    <p:sldId id="265" r:id="rId15"/>
    <p:sldId id="266" r:id="rId16"/>
    <p:sldId id="267" r:id="rId17"/>
    <p:sldId id="268" r:id="rId18"/>
    <p:sldId id="269" r:id="rId19"/>
    <p:sldId id="272" r:id="rId20"/>
    <p:sldId id="271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大家好，欢迎来到今天的Java课程。今天我们将深入探讨一个非常重要的技术——JSTL，也就是JSP标准标签库。它将帮助我们写出更简洁、更安全、更易于维护的JSP页面。让我们一起开始吧！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接下来，我们来学习与JSTL紧密配合的另一个重要技术——EL表达式。它是一种简单的语言，用于在JSP页面中轻松地访问和显示数据。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首先，我们会介绍JSTL的基本概念和它的重要性。然后，学习如何配置开发环境。接着，我们将深入学习核心标签库和格式化标签库的常用标签。最后，通过一个综合示例来巩固所学知识，并总结一些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什么是JSTL。简单来说，JSTL就是一套标准化的标签，我们可以直接在JSP页面中使用它们。它的核心目的就是让我们摆脱繁琐的Java代码，用更简洁的标签来实现页面逻辑，让代码更清晰，更易于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那么，我们为什么需要JSTL呢？想象一下，一个JSP页面里充满了&lt;% ... %&gt;这样的Java代码，是不是看起来非常混乱？这不仅让页面难以维护，还可能带来安全隐患。JSTL就是为了解决这些问题而生的，它用标签代替了复杂的代码，让页面回归到展示内容的本质。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STL带来了很多好处，它不仅简化了开发，提高了代码质量，还增强了安全性。JSTL主要分为五大标签库，如图所示，包括核心标签库、格式化标签库、SQL标签库、XML标签库和函数库。在本次课程中，我们将重点学习最常用的核心标签库和格式化标签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使用JSTL之前，我们需要做一些准备工作。首先，确保项目中已经添加了JSTL的库文件。然后，在每个需要使用JSTL的JSP页面顶部，通过这两行taglib指令来引入核心标签库和格式化标签库。这里的前缀'c'和'fmt'是约定俗成的，大家最好遵循这个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接下来，我们来学习与JSTL紧密配合的另一个重要技术——EL表达式。它是一种简单的语言，用于在JSP页面中轻松地访问和显示数据。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表达式的语法非常直观。我们可以用它来访问JavaBean的属性、Map的值，甚至进行简单的运算。同时，它还提供了像param、pageContext这样的隐式对象，让我们可以方便地获取请求参数和页面上下文信息，极大地简化了数据访问的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表达式控制标签。&lt;c:out&gt;用于安全地输出数据，它能自动转义特殊字符，有效防止XSS攻击。&lt;c:set&gt;和&lt;c:remove&gt;则分别用于设置和移除变量。&lt;c:catch&gt;标签可以帮助我们捕获页面中可能出现的异常，让程序更健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接下来是流程控制标签。&lt;c:if&gt;标签非常简单，它就相当于Java中的if语句。只要test属性里的表达式为true，它包裹的内容就会被执行。比如这个例子，只有当用户角色是管理员时，才会显示管理后台的链接。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我们需要更复杂的条件判断，就可以使用&lt;c:choose&gt;标签，它相当于Java中的switch语句。&lt;c:when&gt;标签定义了各个分支的条件，而&lt;c:otherwise&gt;则是默认分支。这个例子展示了如何根据分数判断等级，非常直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循环是页面开发中非常常见的需求。&lt;c:forEach&gt;是我们最常用的循环标签，可以遍历集合、数组甚至Map。通过varStatus属性，我们还能获取循环的索引、计数等信息。而&lt;c:forTokens&gt;则专门用于遍历用特定分隔符分开的字符串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最后是URL操作标签。&lt;c:url&gt;标签可以帮助我们安全地生成URL，特别是在需要添加参数时，它会自动处理URL编码。&lt;c:redirect&gt;则用于页面重定向。而&lt;c:param&gt;标签通常作为它们的子标签，用来传递参数。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理论学习完了，现在让我们进入第三部分，通过一个综合示例来巩固我们所学的JSTL和EL表达式知识。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格式化标签库主要包括日期和数字的格式化。&lt;fmt:formatDate&gt;可以将日期对象转换成我们指定格式的字符串，比如显示成年月日时分秒。&lt;fmt:formatNumber&gt;则可以方便地将数字格式化为货币、百分比等形式，让页面显示更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完了，我们来看一个综合示例。这个页面展示了一个用户列表，它综合运用了我们刚才学到的&lt;c:forEach&gt;进行循环，&lt;c:out&gt;安全输出，&lt;fmt:formatDate&gt;和&lt;fmt:formatNumber&gt;进行格式化，以及&lt;c:choose&gt;进行条件判断。可以看到，整个页面没有一行Java代码，非常清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JSTL是简化JSP开发的利器，它让我们的代码更清晰、更安全。在使用时，请记住几个最佳实践：优先使用JSTL和EL，合理选择变量作用域，始终使用`&lt;c:out&gt;`进行安全输出，以及把复杂的业务逻辑放在后端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今天的课程到此结束，感谢大家的观看。现在是问答环节，大家有什么问题可以随时提出。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10000"/>
                </a:srgbClr>
              </a:gs>
              <a:gs pos="100000">
                <a:srgbClr val="000000">
                  <a:alpha val="7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58000" y="22860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</a:t>
            </a:r>
            <a:r>
              <a:rPr lang="en-US" altLang="zh-CN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JSP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858000" y="355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小组成员：程渭涵、郭雅葶、</a:t>
            </a:r>
            <a:r>
              <a:rPr lang="zh-CN" alt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彭鑫雨</a:t>
            </a:r>
            <a:endParaRPr lang="zh-CN" altLang="en-US" sz="2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604500" y="5334000"/>
            <a:ext cx="127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10" r="510"/>
          <a:stretch>
            <a:fillRect/>
          </a:stretch>
        </p:blipFill>
        <p:spPr>
          <a:xfrm>
            <a:off x="10693400" y="5372100"/>
            <a:ext cx="1092200" cy="1092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</a:t>
            </a:r>
            <a:r>
              <a:rPr lang="zh-CN" alt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zh-CN" altLang="en-US" sz="4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JavaServer Pages Standard Tag Library）</a:t>
            </a:r>
            <a:endParaRPr lang="zh-CN" altLang="en-US" sz="4000" b="1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2098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JSTL详解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深入解析JSTL核心标签库（Core）与格式化标签库（Formatting），掌握表达式控制、循环遍历、日期与数字格式化等高频开发场景的实现。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159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22098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EL表达式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系统讲解表达式语言（EL）的核心语法、变量访问、运算符使用及隐式对象应用，简化JSP页面的Java代码编写，提升开发效率。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159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22098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综合示例与实践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通过完整实战案例串联JSTL与EL的组合应用，演示数据展示、逻辑控制的落地实现，并分享开发避坑指南与代码优化的最佳实践。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79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引言：JSTL与EL表达式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317500" tIns="381000" rIns="317500" bIns="3810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(JavaServer Pages Standard Tag Library)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一套嵌入在JSP页面中使用的标准化标签集合，用于封装通用功能，如流程控制、循环等。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</a:p>
          <a:p>
            <a:pPr marL="0" indent="0" algn="ctr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(Expression Language)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一种简单的语言，用于在JSP页面中访问应用程序数据，语法简洁，如 ${user.name}。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477000" y="1778000"/>
            <a:ext cx="4826000" cy="4572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70000"/>
              </a:srgbClr>
            </a:solidFill>
            <a:prstDash val="solid"/>
            <a:round/>
          </a:ln>
        </p:spPr>
        <p:txBody>
          <a:bodyPr vert="horz" wrap="square" lIns="381000" tIns="508000" rIns="381000" bIns="50800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JSTL与EL共同构成了现代JSP开发的基石，它们将页面的表现逻辑与Java代码分离，使页面更简洁、更具可读性。</a:t>
            </a:r>
            <a:endParaRPr lang="en-US" sz="15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为什么需要JSTL？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代码混杂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34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HTML结构与Java逻辑深度交织，页面充斥着大量Scriptlets，导致结构混乱不堪，后期的维护与迭代变得异常艰难。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524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925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171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可读性差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2286000"/>
            <a:ext cx="234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非开发人员（如前端设计师）无法理解复杂的后端代码，页面样式与内容的调整必须依赖程序员，严重拖慢协作节奏。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71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复用性低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286000"/>
            <a:ext cx="234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通用的业务判断逻辑难以抽象封装，在不同页面中反复编写相同代码，不仅增加开发量，还容易出现版本不一致的问题。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524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9535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080500" y="171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安全隐患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80500" y="2286000"/>
            <a:ext cx="234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直接在页面中输出未经处理的用户输入数据，缺少统一的转义机制，极易成为攻击者利用的漏洞，引发XSS跨站脚本攻击。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107950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381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标准化标签</a:t>
            </a:r>
            <a:b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重构开发体验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0" y="4381500"/>
            <a:ext cx="127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572000" y="4381500"/>
            <a:ext cx="673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 通过提供一系列标准化的标签库，彻底打破了表现层与业务逻辑的耦合。开发者无需再在页面中嵌入繁琐的 Java 代码片段，让 JSP 回归视图展示的本质。这不仅让页面代码变得简洁、易读，更实现了逻辑的复用与统一管理，有效规避了安全风险，让 Web 应用的开发与维护变得更加高效、可靠。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JSTL与EL的优势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79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794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简化开发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225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EL表达式以 ${} 替代了繁琐的 &lt;%= %&gt;，JSTL标签以 &lt;c:xxx&gt; 替代了复杂的Java代码块。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46500" y="1524000"/>
            <a:ext cx="279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746500" y="1524000"/>
            <a:ext cx="2794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0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81500" y="1676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提高代码质量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7000" y="22225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页面代码更具可读性和可维护性，美工和程序员可以更好地协作。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279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2794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089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增强安全性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6355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&lt;c:out&gt; 标签默认转义HTML，有效防止XSS攻击。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46500" y="3937000"/>
            <a:ext cx="2794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746500" y="3937000"/>
            <a:ext cx="2794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7000" y="412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381500" y="4089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937000" y="46355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提供了一套统一的标准，避免了不同项目间的自定义标签混乱。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0581">
            <a:off x="4413250" y="3835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858000" y="1524000"/>
            <a:ext cx="5080000" cy="476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 t="5325" b="5325"/>
          <a:stretch>
            <a:fillRect/>
          </a:stretch>
        </p:blipFill>
        <p:spPr>
          <a:xfrm>
            <a:off x="6985000" y="1714500"/>
            <a:ext cx="4826000" cy="273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985000" y="4635500"/>
            <a:ext cx="48260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12000" y="4724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五大核心标签库体系概览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51435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 包含核心控制、格式化、SQL、XML处理及函数库五大模块。其中核心标签库负责流程控制与数据操作，是最基础且高频使用的组件；格式化标签库则用于处理国际化与数据格式化需求，两者共同构成了JSP开发的核心工具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准备工作：配置JSTL环境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在使用 JSTL 标签库开发之前，必须先完成基础环境配置。核心步骤包括确保项目中已正确引入 `jstl.jar` 和 `standard.jar` 依赖包，并在需要使用标签的 JSP 页面顶部，通过 `taglib` 指令声明对应的标签库命名空间，这是后续编写简洁高效 JSP 代码的前提。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70500" cy="3175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核心标签库 (Core) - 约定前缀 c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619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7F3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&lt;%@ taglib prefix="c" uri="http://java.sun.com/jsp/jstl/core" %&gt;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6355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最常用的基础标签库，涵盖了变量操作、流程控制（如 if/else、循环）和 URL 管理等核心功能。`prefix="c"` 是业界通用的简写约定，能够显著提升代码的可读性与开发效率；URI 则指向了 JavaEE 标准定义的核心标签库资源位置。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2794000"/>
            <a:ext cx="5270500" cy="3175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279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98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格式化标签库 (Format) - 约定前缀 fmt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556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3619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7F3D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&lt;%@ taglib prefix="fmt" uri="http://java.sun.com/jsp/jstl/fmt" %&gt;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6355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专注于数据格式化处理的工具集，常用于日期时间、数字货币的展示格式化以及国际化（I18N）资源的读取。使用 `prefix="fmt"` 作为前缀，语义清晰；对应的 URI 指向标准的格式化标签库，让页面数据的展示更加规范、专业且易于维护。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EL表达式 (Expression Language)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EL表达式详解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98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EL 表达式？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EL（Expression Language）是一种专为简化 JSP 页面数据访问而设计的脚本语言。它摒弃了复杂的 Java 代码块，通过简洁的 `${}` 语法格式，允许开发者以极简的方式从各种作用域中读取数据、执行简单运算，从而让页面逻辑更清晰，代码更易于维护。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921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3048000"/>
            <a:ext cx="182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JavaBean 访问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34925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直接通过属性名取值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无需编写 getter 方法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4191000"/>
            <a:ext cx="1778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" y="4216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${user.name}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46400" y="2921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946400" y="2921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073400" y="3048000"/>
            <a:ext cx="182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 集合取值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73400" y="34925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支持键名或点语法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灵活获取映射值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98800" y="4191000"/>
            <a:ext cx="1778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098800" y="4216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${userMap.key}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130800" y="2921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130800" y="2921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257800" y="3048000"/>
            <a:ext cx="182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 / List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257800" y="34925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通过索引快速定位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集合中的目标元素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83200" y="4191000"/>
            <a:ext cx="1778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283200" y="4216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${users[0].name}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315200" y="2921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315200" y="2921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442200" y="3048000"/>
            <a:ext cx="182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算术运算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42200" y="34925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支持加减乘除取模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直接在页面计算数值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467600" y="4191000"/>
            <a:ext cx="1778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467600" y="4216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${price * qty}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499600" y="2921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499600" y="2921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626600" y="3048000"/>
            <a:ext cx="1828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关系运算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626600" y="3492500"/>
            <a:ext cx="1828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判断大小或相等关系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返回布尔值用于逻辑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652000" y="4191000"/>
            <a:ext cx="1778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652000" y="42164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${score &gt;= 60}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620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762000" y="5080000"/>
            <a:ext cx="3429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89000" y="5181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请求参数：param 对象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89000" y="5588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替代 request.getParameter()，直接获取 URL 或表单提交的参数值，如 `${param.username}`，是处理前端传参最常用的隐式对象。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5363814">
            <a:off x="3714750" y="5803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44450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4445000" y="5080000"/>
            <a:ext cx="3429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4572000" y="5181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作用域数据：Scope 对象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4572000" y="5588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包括 pageScope、requestScope、sessionScope 等，用于精准定位数据所在的作用域，避免默认查找规则带来的性能损耗与数据歧义。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5363814">
            <a:off x="7397750" y="5803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8128000" y="508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8128000" y="5080000"/>
            <a:ext cx="3429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8255000" y="5181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全局上下文：pageContext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255000" y="55880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提供对 JSP 页面运行环境的全面访问，可间接获取 request、response、session 等核心 Servlet API 对象，功能最为强大。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表达式控制标签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&lt;c:out&gt; - 输出数据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320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用于计算表达式并将结果输出，比直接使用 EL 表达式更安全，默认会自动转义 HTML/XML 特殊字符，有效防止恶意脚本注入（XSS）。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857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8956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&lt;c:out value="${user.name}" /&gt;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&lt;!-- 为空时显示默认值 --&gt;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&lt;c:out value="${user.email}" default="未填写邮箱" escapeXml="true"/&gt;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397000"/>
            <a:ext cx="5270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158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&lt;c:set&gt; - 设置变量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0320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在指定的 JSP 作用域（page、request、session、application）中定义新变量，或为已存在的 JavaBean 对象、Map 集合动态设置属性值。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857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28956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在 session 作用域定义变量 --%&gt;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&lt;c:set var="username" value="张三" scope="session" /&gt;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为对象属性赋值 --%&gt;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&lt;c:set target="${user}" property="age" value="20"/&gt;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70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&lt;c:remove&gt; - 移除变量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6355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从指定的作用域中删除已存在的变量。若不指定作用域（scope），则会在所有作用域中依次查找并移除该变量，常用于清理不再需要的数据。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397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79500" y="54356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从 session 作用域移除变量 --%&gt;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&lt;c:remove var="username" scope="session" /&gt;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不指定作用域，移除所有域中的变量 --%&gt;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&lt;c:remove var="tempData"/&gt;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70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06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135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&lt;c:catch&gt; - 捕获异常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46355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用于捕获其标签体内容在执行过程中抛出的异常。将异常对象保存在指定变量中，避免页面因运行时错误而崩溃，提升系统健壮性。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53975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40500" y="5435600"/>
            <a:ext cx="4635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&lt;c:catch var="calcError"&gt;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 int result = 10 / 0; // 可能抛出异常的代码 %&gt;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&lt;/c:catch&gt;</a:t>
            </a:r>
            <a:b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&lt;c:out value="计算异常：${calcError.message}"/&gt;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流程控制标签：&lt;c:if&gt;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605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实现简单的条件判断逻辑，如同 Java 中的 if 单分支语句。仅当 `test` 属性中的 EL 表达式计算结果为 `true` 时，标签体包裹的内容才会被执行并最终渲染到页面中；若为 false，则直接跳过标签体内容。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8956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 (必需属性)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3401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条件判断的核心依据，需传入一个能返回布尔值的 EL 表达式。这是决定标签体内容是否执行的关键开关。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794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279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97400" y="28956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var (可选属性)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97400" y="33401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用于缓存本次条件判断的布尔结果。定义后可在后续页面逻辑中直接复用该结果，避免重复计算相同的表达式。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64500" y="2794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64500" y="279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255000" y="28956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scope (可选属性)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3401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 var 变量的有效作用域。可选值包括 page、request、session、application，默认作用域为 page（当前页面）。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282D37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6736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231900" y="46736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511300" y="4673600"/>
            <a:ext cx="152400" cy="1524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905000" y="4635500"/>
            <a:ext cx="889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JSP 代码应用示例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244">
            <a:off x="952504" y="5073650"/>
            <a:ext cx="1028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5143500"/>
            <a:ext cx="501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基础用法：判断用户角色 --%&gt;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&lt;c:if test="${user.role == 'admin'}"&gt;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&lt;a href="/admin"&gt;进入管理后台&lt;/a&gt;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&lt;/c:if&gt;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9557">
            <a:off x="5556250" y="56769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50000" y="5143500"/>
            <a:ext cx="501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&lt;%-- 进阶用法：缓存判断结果 --%&gt;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&lt;c:if test="${not empty list}" var="hasData"&gt;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&lt;p&gt;数据列表共 ${list.size()} 条记录&lt;/p&gt;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&lt;/c:if&gt;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多路分支：&lt;c:choose&gt;, &lt;c:when&gt;, &lt;c:otherwise&gt;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651000"/>
            <a:ext cx="1003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核心作用：JSTL 中的 Switch-Case 逻辑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1590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这组标签是 JSTL 中处理多条件分支判断的标准方式，功能上等同于 Java 语言中的 switch-case 语句。其中 &lt;c:choose&gt; 作为父容器包裹所有分支逻辑；&lt;c:when&gt; 定义具体的分支判断条件，且条件判断是按书写顺序进行的，匹配即止；&lt;c:otherwise&gt; 则作为兜底方案，当所有 &lt;c:when&gt; 条件均不满足时，执行其内部的默认逻辑。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10668000" cy="2413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5941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场景示例：根据学生成绩动态判定等级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91000"/>
            <a:ext cx="10287000" cy="1651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254500"/>
            <a:ext cx="1003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81C78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&lt;c:choose&gt;</a:t>
            </a:r>
            <a:endParaRPr lang="en-US" sz="1100"/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81C78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&lt;c:when test="${score &gt;= 90}"&gt;</a:t>
            </a:r>
            <a:r>
              <a:rPr lang="en-US" sz="13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90分及以上为优秀</a:t>
            </a:r>
            <a:endParaRPr lang="en-US" sz="1300" b="0" i="0" u="none" strike="noStrike">
              <a:solidFill>
                <a:srgbClr val="9CA3A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&lt;span style="color: green;"&gt;优秀&lt;/span&gt;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81C78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&lt;/c:when&gt; &lt;!-- 其他分支省略... --&gt; &lt;c:otherwise&gt;</a:t>
            </a:r>
            <a:endParaRPr lang="en-US" sz="1300" b="0" i="0" u="none" strike="noStrike">
              <a:solidFill>
                <a:srgbClr val="81C78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&lt;span style="color: red;"&gt;不及格&lt;/span&gt;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81C78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&lt;/c:choose&gt;</a:t>
            </a:r>
            <a:endParaRPr lang="en-US" sz="1300" b="0" i="0" u="none" strike="noStrike">
              <a:solidFill>
                <a:srgbClr val="81C78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循环标签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603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&lt;c:forEach&gt; - 遍历集合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核心用于遍历集合、数组或 Map 结构，也可执行固定次数的循环。通过 varStatus 属性能便捷获取当前循环的索引、计数、奇偶行等状态信息，是 JSP 开发中处理列表数据最基础且高频的标签。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238500"/>
            <a:ext cx="4889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327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从数据库查询出用户列表后，在页面上动态渲染表格行数据，或根据索引为表格添加斑马纹样式。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524000"/>
            <a:ext cx="5270500" cy="2603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71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&lt;c:forTokens&gt; - 分割字符串遍历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专门针对字符串解析的迭代标签。它能识别指定的分隔符（如逗号、分号），将长字符串拆分为独立的子元素序列，然后依次遍历每个子元素，避免了手动处理字符串分割的繁琐逻辑。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238500"/>
            <a:ext cx="4889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3327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处理后台返回的逗号分隔的标签字符串、权限码列表，快速在前端生成标签云或权限选项列表。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5270500" cy="3302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43434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示例：遍历用户列表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476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&lt;c:forEach items="${userList}" var="u" varStatus="st"&gt;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  &lt;tr class="${st.index % 2 == 0 ? 'even' : 'odd'}"&gt;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    &lt;td&gt;${st.count}&lt;/td&gt;  &lt;td&gt;${u.name}&lt;/td&gt;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  &lt;/tr&gt;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&lt;/c:forEach&gt;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4318000"/>
            <a:ext cx="5270500" cy="3302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43434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示例：解析标签字符串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762500"/>
            <a:ext cx="501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&lt;%-- 原始数据："技术,设计,管理" --%&gt;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&lt;c:forTokens items="${skillStr}" delims="," var="skill"&gt;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  &lt;span class="tag"&gt;#${skill}&lt;/span&gt;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&lt;/c:forTokens&gt;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&lt;%-- 输出：#技术 #设计 #管理 --%&gt;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URL操作标签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&lt;c:url&gt; - 生成URL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用于生成标准化的URL地址，自动处理URL重写逻辑，并支持动态拼接请求参数，是构建安全链接的基础。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29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3530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&lt;c:url value="/profile" var="p"&gt;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&lt;c:param name="uid" value="${user.id}"/&gt;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&lt;/c:url&gt;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&lt;a href="${p}"&gt;用户主页&lt;/a&gt;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080000"/>
            <a:ext cx="3111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1400" y="5156200"/>
            <a:ext cx="292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自动转义特殊字符，避免手动拼接导致的安全漏洞与格式错误。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35500" y="1778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&lt;c:redirect&gt; - 重定向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实现服务端的页面跳转逻辑，常用于权限校验失败、业务流程结束或错误处理时的页面引导。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429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24400" y="3530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&lt;c:redirect url="/error"&gt;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&lt;c:param name="code" value="403"/&gt;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&lt;c:param name="msg" value="无权限"/&gt;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&lt;/c:redirect&gt;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5500" y="5080000"/>
            <a:ext cx="3111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24400" y="5156200"/>
            <a:ext cx="292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执行机制：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终止当前页面响应，向浏览器发送3xx状态码与新地址，触发页面跳转。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18500" y="1778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&lt;c:param&gt; - 参数传递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413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作为辅助子标签使用，专为URL生成或重定向动作附加参数。解决了中文及特殊符号在URL中的传输编码问题。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3429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407400" y="35306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551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无需手动调用 URLEncoder.encode()</a:t>
            </a:r>
            <a:br>
              <a:rPr lang="en-US" sz="1300" b="0" i="0" u="none" strike="noStrike">
                <a:solidFill>
                  <a:srgbClr val="1551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1551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EL 动态表达式取值</a:t>
            </a:r>
            <a:br>
              <a:rPr lang="en-US" sz="1300" b="0" i="0" u="none" strike="noStrike">
                <a:solidFill>
                  <a:srgbClr val="1551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1551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自动处理参数名与值的转义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5080000"/>
            <a:ext cx="3111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407400" y="5156200"/>
            <a:ext cx="292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所有需要在URL中附带动态参数的业务场景，是JSTL中参数处理的标准方式。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综合示例实践</a:t>
            </a:r>
            <a:r>
              <a:rPr lang="zh-CN" alt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与格式化</a:t>
            </a:r>
            <a:r>
              <a:rPr lang="zh-CN" alt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标签库</a:t>
            </a:r>
            <a:endParaRPr lang="zh-CN" altLang="en-US" sz="40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日期与数字格式化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日期格式化 &lt;fmt:formatDate&gt;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Java Date 对象转换为指定模式的字符串，支持自定义年月日、时分秒的组合格式；其反向操作 &lt;fmt:parseDate&gt; 则可将标准日期字符串还原为 Date 对象，适配前后端数据交互。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17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&lt;fmt:formatDate value="${now}" pattern="yyyy年MM月dd日 HH:mm:ss" /&gt;</a:t>
            </a:r>
            <a:b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&lt;!-- 输出结果：2026年05月31日 15:30:45 --&gt;</a:t>
            </a:r>
            <a:b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适用于订单时间、日志时间等需要统一视觉呈现的业务场景。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1714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数字格式化 &lt;fmt:formatNumber&gt;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222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对数值型数据进行专业格式化处理，涵盖货币、百分比、千分位分隔等场景；反向解析 &lt;fmt:parseNumber&gt; 可将格式化后的数字字符串恢复为原始数值，便于后端计算。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31115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317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&lt;fmt:formatNumber value="123.45" type="currency" /&gt; &lt;!-- ￥123.45 --&gt;</a:t>
            </a:r>
            <a:b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&lt;fmt:formatNumber value="0.85" type="percent" /&gt; &lt;!-- 85% --&gt;</a:t>
            </a:r>
            <a:b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常用于商品价格展示、数据报表统计等对精度和格式有严格要求的界面。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 fmt 标签库实现了视图层数据展示的“即插即用”。它将复杂的格式化逻辑从 Java 代码中剥离，既减少了开发工作量，又确保了日期和数字在不同页面、不同模块中的展示标准高度统一，是构建专业、规范的企业级 Web 应用不可或缺的工具。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综合示例与实践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本示例综合运用了 JSTL 核心标签与格式化标签库，无需在页面中编写任何原生 Java 代码。通过标签化的方式实现了用户数据的循环遍历、安全输出、日期与金额的标准化格式化，以及用户状态的动态条件判断，最终将复杂的后端数据优雅地渲染为前端表格。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10668000" cy="2476500"/>
          </a:xfrm>
          <a:prstGeom prst="roundRect">
            <a:avLst>
              <a:gd name="adj" fmla="val 0"/>
            </a:avLst>
          </a:prstGeom>
          <a:solidFill>
            <a:srgbClr val="171C26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10668000" cy="3556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743200"/>
            <a:ext cx="152400" cy="1524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2743200"/>
            <a:ext cx="152400" cy="1524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60500" y="2743200"/>
            <a:ext cx="152400" cy="152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905000" y="27051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user_list.jsp - JSTL Implementation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3111500"/>
            <a:ext cx="1028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&lt;%@ taglib prefix="c" uri="http://java.sun.com/jsp/jstl/core" %&gt; &lt;%@ taglib prefix="fmt" uri="http://java.sun.com/jsp/jstl/fmt" %&gt;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&lt;table border="1"&gt;&lt;tr&gt;&lt;th&gt;ID&lt;/th&gt;&lt;th&gt;姓名&lt;/th&gt;&lt;th&gt;注册日期&lt;/th&gt;&lt;th&gt;余额&lt;/th&gt;&lt;th&gt;状态&lt;/th&gt;&lt;/tr&gt;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&lt;c:forEach items="${users}" var="user"&gt;</a:t>
            </a: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&lt;tr&gt;&lt;td&gt;${user.id}&lt;/td&gt;&lt;td&gt;&lt;c:out value="${user.name}"/&gt;&lt;/td&gt;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&lt;td&gt;&lt;fmt:formatDate value="${user.regDate}" pattern="yyyy-MM-dd"/&gt;&lt;/td&gt;&lt;td&gt;&lt;fmt:formatNumber value="${user.balance}" type="currency"/&gt;&lt;/td&gt;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59E0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&lt;td&gt;&lt;c:choose&gt;&lt;c:when test="${user.active}"&gt;活跃&lt;/c:when&gt;&lt;c:otherwise&gt;禁用&lt;/c:otherwise&gt;&lt;/c:choose&gt;&lt;/td&gt;&lt;/tr&gt;&lt;/c:forEach&gt;&lt;/table&gt;</a:t>
            </a:r>
            <a:endParaRPr lang="en-US" sz="1200" b="0" i="0" u="none" strike="noStrike">
              <a:solidFill>
                <a:srgbClr val="F59E0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53975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53C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核心亮点：</a:t>
            </a:r>
            <a:r>
              <a:rPr lang="en-US" sz="1300" b="0" i="0" u="none" strike="noStrike">
                <a:solidFill>
                  <a:srgbClr val="164E3D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这种纯标签化的开发模式实现了业务逻辑与视图层的彻底解耦。既消除了页面中嵌入 Java 代码的维护风险，又利用标准标签库确保了数据格式的一致性（如货币符号、日期格式），同时通过条件标签实现了动态的视觉反馈，是企业级 JSP 开发中提升代码质量与可维护性的关键实践。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98600"/>
            <a:ext cx="1028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 是 Java Web 开发中简化 JSP 页面的核心技术，通过标准化标签库替代了繁琐的脚本代码，显著提升了代码的可读性与可维护性。熟练掌握核心标签与格式化标签的组合使用，不仅能规范前端视图层的开发模式，更是构建高效、可扩展 Java Web 应用的基础能力。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14400" y="3276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优先使用 JSTL 与 EL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7211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 JSP 中的 `&lt;% ... %&gt;` 脚本片段，改用标签化语法。这不仅让页面结构更直观，也规避了脚本混杂带来的维护难题，符合 MVC 设计模式中视图层的职责定位。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56100" y="3175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561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500" y="3276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精准选择变量作用域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08500" y="37211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根据数据的生命周期（页面、请求、会话、应用）选择最小可用作用域。减少不必要的内存占用，避免数据泄露，同时确保不同层级数据的正确隔离与传递。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175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3175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53400" y="3276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严格执行安全输出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53400" y="3721100"/>
            <a:ext cx="323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所有来自用户输入或外部接口的不可信数据，必须通过 `&lt;c:out&gt;` 标签输出。该标签会自动转义特殊字符，是防止 XSS 跨站脚本攻击的第一道有效防线。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889500"/>
            <a:ext cx="52324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8895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14400" y="4978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统一应用内 URL 管理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" y="54229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`&lt;c:url&gt;` 标签生成所有内部链接，它能自动处理 URL 重写（如 Session ID 传递）和参数拼接。这不仅统一了路径规范，也为后续的 URL 重构和维护提供了极大便利。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8400" y="4889500"/>
            <a:ext cx="52324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48400" y="48895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00800" y="4978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业务逻辑彻底后置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00800" y="54229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JSTL 的核心定位是视图渲染与简单控制流。复杂的业务判断、数据处理和事务操作应封装在后端 Servlet、Service 或 DAO 层，保持视图层的“轻量化”，符合关注点分离原则。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7692</Words>
  <Application>WPS 演示</Application>
  <PresentationFormat/>
  <Paragraphs>324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Consolas</vt:lpstr>
      <vt:lpstr>Menlo</vt:lpstr>
      <vt:lpstr>Segoe Print</vt:lpstr>
      <vt:lpstr>Source Code Pro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红尘紫墨</cp:lastModifiedBy>
  <cp:revision>5</cp:revision>
  <dcterms:created xsi:type="dcterms:W3CDTF">2026-05-31T14:56:00Z</dcterms:created>
  <dcterms:modified xsi:type="dcterms:W3CDTF">2026-05-31T16:11:44Z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{"Label":"1","ContentProducer":"001191110102MACQD9K64010000","ProduceID":"7646069001081539787","ReservedCode1":"","ContentPropagator":"","PropagateID":"","ReservedCode2":""}</vt:lpwstr>
  </property>
  <property fmtid="{D5CDD505-2E9C-101B-9397-08002B2CF9AE}" pid="3" name="ICV">
    <vt:lpwstr>431152D02AC54F4E8FA2497BDB804EC7_13</vt:lpwstr>
  </property>
  <property fmtid="{D5CDD505-2E9C-101B-9397-08002B2CF9AE}" pid="4" name="KSOProductBuildVer">
    <vt:lpwstr>2052-12.1.0.26375</vt:lpwstr>
  </property>
</Properties>
</file>